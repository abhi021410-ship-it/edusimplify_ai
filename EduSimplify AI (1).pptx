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3" r:id="rId7"/>
    <p:sldId id="264" r:id="rId8"/>
    <p:sldId id="265" r:id="rId9"/>
    <p:sldId id="266" r:id="rId10"/>
    <p:sldId id="267" r:id="rId11"/>
    <p:sldId id="268" r:id="rId12"/>
    <p:sldId id="269" r:id="rId13"/>
    <p:sldId id="270" r:id="rId14"/>
    <p:sldId id="271"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2" roundtripDataSignature="AMtx7mgb3W1nguJpyLvdkVeio7GQyZY/L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p:scale>
          <a:sx n="75" d="100"/>
          <a:sy n="75" d="100"/>
        </p:scale>
        <p:origin x="946" y="12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abhi021410-ship-it/EduSimplify_AI.git"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a:t>IBM University Engagement Project Submission</a:t>
            </a:r>
            <a:br>
              <a:rPr lang="en-US" b="1"/>
            </a:br>
            <a:endParaRPr/>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3006677320"/>
              </p:ext>
            </p:extLst>
          </p:nvPr>
        </p:nvGraphicFramePr>
        <p:xfrm>
          <a:off x="1299257" y="2600315"/>
          <a:ext cx="9395000" cy="2167125"/>
        </p:xfrm>
        <a:graphic>
          <a:graphicData uri="http://schemas.openxmlformats.org/drawingml/2006/table">
            <a:tbl>
              <a:tblPr>
                <a:noFill/>
                <a:tableStyleId>{F063BE5B-8E01-4B91-9C5C-8479B17E1E5F}</a:tableStyleId>
              </a:tblPr>
              <a:tblGrid>
                <a:gridCol w="2064875">
                  <a:extLst>
                    <a:ext uri="{9D8B030D-6E8A-4147-A177-3AD203B41FA5}">
                      <a16:colId xmlns:a16="http://schemas.microsoft.com/office/drawing/2014/main" val="20000"/>
                    </a:ext>
                  </a:extLst>
                </a:gridCol>
                <a:gridCol w="2274668">
                  <a:extLst>
                    <a:ext uri="{9D8B030D-6E8A-4147-A177-3AD203B41FA5}">
                      <a16:colId xmlns:a16="http://schemas.microsoft.com/office/drawing/2014/main" val="20001"/>
                    </a:ext>
                  </a:extLst>
                </a:gridCol>
                <a:gridCol w="2612082">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a:t>M. ABHIRAM REDDY</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a:t>2420080067aids@gmail.com</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a:t>9090023535</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1206164" y="1460724"/>
            <a:ext cx="10280254" cy="461665"/>
          </a:xfrm>
          <a:prstGeom prst="rect">
            <a:avLst/>
          </a:prstGeom>
          <a:noFill/>
          <a:ln>
            <a:noFill/>
          </a:ln>
        </p:spPr>
        <p:txBody>
          <a:bodyPr spcFirstLastPara="1" wrap="square" lIns="91425" tIns="45700" rIns="91425" bIns="45700" anchor="t" anchorCtr="0">
            <a:spAutoFit/>
          </a:bodyPr>
          <a:lstStyle/>
          <a:p>
            <a:pPr lvl="0"/>
            <a:r>
              <a:rPr lang="en-US" sz="2400" b="1" i="0" u="none" strike="noStrike" cap="none" dirty="0">
                <a:solidFill>
                  <a:srgbClr val="000000"/>
                </a:solidFill>
                <a:latin typeface="Arial"/>
                <a:ea typeface="Arial"/>
                <a:cs typeface="Arial"/>
                <a:sym typeface="Arial"/>
              </a:rPr>
              <a:t>Domain of  Project – </a:t>
            </a:r>
            <a:r>
              <a:rPr lang="en-IN" sz="2400" dirty="0">
                <a:highlight>
                  <a:srgbClr val="FFFF00"/>
                </a:highlight>
              </a:rPr>
              <a:t>Education Technology </a:t>
            </a:r>
            <a:endParaRPr sz="2400" b="1" i="0" u="none" strike="noStrike" cap="none" dirty="0">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2" y="551965"/>
            <a:ext cx="9581177" cy="830956"/>
          </a:xfrm>
          <a:prstGeom prst="rect">
            <a:avLst/>
          </a:prstGeom>
          <a:noFill/>
          <a:ln>
            <a:noFill/>
          </a:ln>
        </p:spPr>
        <p:txBody>
          <a:bodyPr spcFirstLastPara="1" wrap="square" lIns="91425" tIns="45700" rIns="91425" bIns="45700" anchor="t" anchorCtr="0">
            <a:spAutoFit/>
          </a:bodyPr>
          <a:lstStyle/>
          <a:p>
            <a:pPr lvl="0"/>
            <a:r>
              <a:rPr lang="en-US" sz="2400" b="1" i="0" u="none" strike="noStrike" cap="none" dirty="0">
                <a:solidFill>
                  <a:srgbClr val="000000"/>
                </a:solidFill>
                <a:latin typeface="Arial"/>
                <a:ea typeface="Arial"/>
                <a:cs typeface="Arial"/>
                <a:sym typeface="Arial"/>
              </a:rPr>
              <a:t>Project Tile – </a:t>
            </a:r>
            <a:r>
              <a:rPr lang="en-IN" sz="2400" dirty="0">
                <a:highlight>
                  <a:srgbClr val="FFFF00"/>
                </a:highlight>
              </a:rPr>
              <a:t>EduSimplify AI – AI-Powered PDF Learning Assistant using IBM watsonx.ai Granite Models</a:t>
            </a:r>
            <a:endParaRPr sz="2400" b="1" i="0" u="none" strike="noStrike" cap="none" dirty="0">
              <a:solidFill>
                <a:srgbClr val="000000"/>
              </a:solidFill>
              <a:highlight>
                <a:srgbClr val="FFFF00"/>
              </a:highlight>
              <a:latin typeface="Arial"/>
              <a:ea typeface="Arial"/>
              <a:cs typeface="Arial"/>
              <a:sym typeface="Arial"/>
            </a:endParaRPr>
          </a:p>
        </p:txBody>
      </p:sp>
      <p:pic>
        <p:nvPicPr>
          <p:cNvPr id="3" name="Picture 2">
            <a:extLst>
              <a:ext uri="{FF2B5EF4-FFF2-40B4-BE49-F238E27FC236}">
                <a16:creationId xmlns:a16="http://schemas.microsoft.com/office/drawing/2014/main" id="{7DD3CCA5-C4AD-0BB0-8428-A7FDD1A7A0FB}"/>
              </a:ext>
            </a:extLst>
          </p:cNvPr>
          <p:cNvPicPr>
            <a:picLocks noChangeAspect="1"/>
          </p:cNvPicPr>
          <p:nvPr/>
        </p:nvPicPr>
        <p:blipFill>
          <a:blip r:embed="rId3"/>
          <a:stretch>
            <a:fillRect/>
          </a:stretch>
        </p:blipFill>
        <p:spPr>
          <a:xfrm>
            <a:off x="4114800" y="3683877"/>
            <a:ext cx="938164" cy="1043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576072" y="791468"/>
            <a:ext cx="10607040" cy="5940047"/>
          </a:xfrm>
          <a:prstGeom prst="rect">
            <a:avLst/>
          </a:prstGeom>
          <a:noFill/>
          <a:ln>
            <a:noFill/>
          </a:ln>
        </p:spPr>
        <p:txBody>
          <a:bodyPr spcFirstLastPara="1" wrap="square" lIns="91425" tIns="45700" rIns="91425" bIns="45700" anchor="t" anchorCtr="0">
            <a:spAutoFit/>
          </a:bodyPr>
          <a:lstStyle/>
          <a:p>
            <a:r>
              <a:rPr lang="en-IN" sz="2000" b="1" dirty="0">
                <a:highlight>
                  <a:srgbClr val="FFFF00"/>
                </a:highlight>
              </a:rPr>
              <a:t>Project Overview</a:t>
            </a:r>
          </a:p>
          <a:p>
            <a:pPr algn="just"/>
            <a:r>
              <a:rPr lang="en-IN" sz="2000" b="1" dirty="0"/>
              <a:t>EduSimplify AI</a:t>
            </a:r>
            <a:r>
              <a:rPr lang="en-IN" sz="2000" dirty="0"/>
              <a:t> is an AI-powered PDF learning assistant that enables students to upload academic documents and ask questions in natural language. Using </a:t>
            </a:r>
            <a:r>
              <a:rPr lang="en-IN" sz="2000" b="1" dirty="0"/>
              <a:t>Retrieval-Augmented Generation (RAG)</a:t>
            </a:r>
            <a:r>
              <a:rPr lang="en-IN" sz="2000" dirty="0"/>
              <a:t> and </a:t>
            </a:r>
            <a:r>
              <a:rPr lang="en-IN" sz="2000" b="1" dirty="0"/>
              <a:t>IBM Granite models</a:t>
            </a:r>
            <a:r>
              <a:rPr lang="en-IN" sz="2000" dirty="0"/>
              <a:t> on </a:t>
            </a:r>
            <a:r>
              <a:rPr lang="en-IN" sz="2000" b="1" dirty="0"/>
              <a:t>IBM watsonx.ai</a:t>
            </a:r>
            <a:r>
              <a:rPr lang="en-IN" sz="2000" dirty="0"/>
              <a:t>, the system provides accurate, context-aware answers based solely on the uploaded PDF, making learning faster and more interactive.</a:t>
            </a:r>
          </a:p>
          <a:p>
            <a:r>
              <a:rPr lang="en-IN" sz="2000" b="1" dirty="0">
                <a:highlight>
                  <a:srgbClr val="FFFF00"/>
                </a:highlight>
              </a:rPr>
              <a:t>Problem Statement</a:t>
            </a:r>
          </a:p>
          <a:p>
            <a:pPr algn="just"/>
            <a:r>
              <a:rPr lang="en-IN" sz="2000" dirty="0"/>
              <a:t>Students spend significant time searching through lengthy PDFs, lecture notes, and research papers for specific information. Traditional PDF readers rely on keyword searches, while general AI chatbots may produce inaccurate responses due to the lack of document context. There is a need for an intelligent AI assistant that understands uploaded documents and delivers reliable, document-based answers.</a:t>
            </a:r>
          </a:p>
          <a:p>
            <a:r>
              <a:rPr lang="en-IN" sz="2000" b="1" dirty="0">
                <a:highlight>
                  <a:srgbClr val="FFFF00"/>
                </a:highlight>
              </a:rPr>
              <a:t>Objective</a:t>
            </a:r>
          </a:p>
          <a:p>
            <a:pPr marL="342900" indent="-342900">
              <a:buFont typeface="Arial" panose="020B0604020202020204" pitchFamily="34" charset="0"/>
              <a:buChar char="•"/>
            </a:pPr>
            <a:r>
              <a:rPr lang="en-IN" sz="2000" dirty="0"/>
              <a:t>Develop an AI-powered educational assistant that:</a:t>
            </a:r>
          </a:p>
          <a:p>
            <a:pPr marL="342900" indent="-342900">
              <a:buFont typeface="Arial" panose="020B0604020202020204" pitchFamily="34" charset="0"/>
              <a:buChar char="•"/>
            </a:pPr>
            <a:r>
              <a:rPr lang="en-IN" sz="2000" dirty="0"/>
              <a:t>Enables students to upload PDF documents. </a:t>
            </a:r>
          </a:p>
          <a:p>
            <a:pPr marL="342900" indent="-342900">
              <a:buFont typeface="Arial" panose="020B0604020202020204" pitchFamily="34" charset="0"/>
              <a:buChar char="•"/>
            </a:pPr>
            <a:r>
              <a:rPr lang="en-IN" sz="2000" dirty="0"/>
              <a:t>Extracts and processes document content. </a:t>
            </a:r>
          </a:p>
          <a:p>
            <a:pPr marL="342900" indent="-342900">
              <a:buFont typeface="Arial" panose="020B0604020202020204" pitchFamily="34" charset="0"/>
              <a:buChar char="•"/>
            </a:pPr>
            <a:r>
              <a:rPr lang="en-IN" sz="2000" dirty="0"/>
              <a:t>Uses </a:t>
            </a:r>
            <a:r>
              <a:rPr lang="en-IN" sz="2000" b="1" dirty="0"/>
              <a:t>RAG</a:t>
            </a:r>
            <a:r>
              <a:rPr lang="en-IN" sz="2000" dirty="0"/>
              <a:t> for intelligent context retrieval. </a:t>
            </a:r>
          </a:p>
          <a:p>
            <a:pPr marL="342900" indent="-342900">
              <a:buFont typeface="Arial" panose="020B0604020202020204" pitchFamily="34" charset="0"/>
              <a:buChar char="•"/>
            </a:pPr>
            <a:r>
              <a:rPr lang="en-IN" sz="2000" dirty="0"/>
              <a:t>Generates accurate answers using </a:t>
            </a:r>
            <a:r>
              <a:rPr lang="en-IN" sz="2000" b="1" dirty="0"/>
              <a:t>IBM Granite</a:t>
            </a:r>
            <a:r>
              <a:rPr lang="en-IN" sz="2000" dirty="0"/>
              <a:t>. </a:t>
            </a:r>
          </a:p>
          <a:p>
            <a:pPr marL="342900" indent="-342900">
              <a:buFont typeface="Arial" panose="020B0604020202020204" pitchFamily="34" charset="0"/>
              <a:buChar char="•"/>
            </a:pPr>
            <a:r>
              <a:rPr lang="en-IN" sz="2000" dirty="0"/>
              <a:t>Provides an interactive AI chat interface. </a:t>
            </a:r>
          </a:p>
        </p:txBody>
      </p:sp>
      <p:sp>
        <p:nvSpPr>
          <p:cNvPr id="96" name="Google Shape;96;p34"/>
          <p:cNvSpPr txBox="1"/>
          <p:nvPr/>
        </p:nvSpPr>
        <p:spPr>
          <a:xfrm>
            <a:off x="576072" y="268288"/>
            <a:ext cx="721461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Problem Statement -</a:t>
            </a:r>
            <a:endParaRPr sz="2800" b="1"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457200" y="1270505"/>
            <a:ext cx="10607040" cy="4401164"/>
          </a:xfrm>
          <a:prstGeom prst="rect">
            <a:avLst/>
          </a:prstGeom>
          <a:noFill/>
          <a:ln>
            <a:noFill/>
          </a:ln>
        </p:spPr>
        <p:txBody>
          <a:bodyPr spcFirstLastPara="1" wrap="square" lIns="91425" tIns="45700" rIns="91425" bIns="45700" anchor="t" anchorCtr="0">
            <a:spAutoFit/>
          </a:bodyPr>
          <a:lstStyle/>
          <a:p>
            <a:pPr marL="342900" indent="-342900">
              <a:buFont typeface="Arial" panose="020B0604020202020204" pitchFamily="34" charset="0"/>
              <a:buChar char="•"/>
            </a:pPr>
            <a:r>
              <a:rPr lang="en-IN" sz="2000" dirty="0"/>
              <a:t>EduSimplify AI is a web-based AI learning assistant that transforms static PDF documents into an interactive question-answering system.</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IN" sz="2000" dirty="0"/>
              <a:t>After uploading a PDF, the application extracts text using </a:t>
            </a:r>
            <a:r>
              <a:rPr lang="en-IN" sz="2000" dirty="0" err="1"/>
              <a:t>PyMuPDF</a:t>
            </a:r>
            <a:r>
              <a:rPr lang="en-IN" sz="2000" dirty="0"/>
              <a:t>, divides the content into smaller chunks, and stores them temporarily in memory.</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IN" sz="2000" dirty="0"/>
              <a:t>Whenever a student asks a question, the backend retrieves the most relevant document chunks and sends them, along with the user's query, to IBM Granite through IBM watsonx.ai.</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IN" sz="2000" dirty="0"/>
              <a:t>The Granite model generates responses strictly based on the retrieved document context, significantly reducing hallucinations and improving answer accuracy.</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IN" sz="2000" dirty="0"/>
              <a:t>The complete workflow is implemented using React, </a:t>
            </a:r>
            <a:r>
              <a:rPr lang="en-IN" sz="2000" dirty="0" err="1"/>
              <a:t>FastAPI</a:t>
            </a:r>
            <a:r>
              <a:rPr lang="en-IN" sz="2000" dirty="0"/>
              <a:t>, Python, and IBM Granite.</a:t>
            </a:r>
          </a:p>
        </p:txBody>
      </p:sp>
      <p:sp>
        <p:nvSpPr>
          <p:cNvPr id="102" name="Google Shape;102;p35"/>
          <p:cNvSpPr txBox="1"/>
          <p:nvPr/>
        </p:nvSpPr>
        <p:spPr>
          <a:xfrm>
            <a:off x="576072" y="704088"/>
            <a:ext cx="721461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Proposed Solution -</a:t>
            </a:r>
            <a:endParaRPr sz="2800" b="1" i="0" u="none" strike="noStrike" cap="none" dirty="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6"/>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a:t>
            </a:r>
            <a:endParaRPr sz="2400" b="1" i="0" u="none" strike="noStrike" cap="none">
              <a:solidFill>
                <a:srgbClr val="000000"/>
              </a:solidFill>
              <a:latin typeface="Arial"/>
              <a:ea typeface="Arial"/>
              <a:cs typeface="Arial"/>
              <a:sym typeface="Arial"/>
            </a:endParaRPr>
          </a:p>
        </p:txBody>
      </p:sp>
      <p:sp>
        <p:nvSpPr>
          <p:cNvPr id="108" name="Google Shape;108;p36"/>
          <p:cNvSpPr txBox="1"/>
          <p:nvPr/>
        </p:nvSpPr>
        <p:spPr>
          <a:xfrm>
            <a:off x="838200" y="1371600"/>
            <a:ext cx="10515600" cy="4616608"/>
          </a:xfrm>
          <a:prstGeom prst="rect">
            <a:avLst/>
          </a:prstGeom>
          <a:noFill/>
          <a:ln>
            <a:noFill/>
          </a:ln>
        </p:spPr>
        <p:txBody>
          <a:bodyPr spcFirstLastPara="1" wrap="square" lIns="91425" tIns="45700" rIns="91425" bIns="45700" anchor="t" anchorCtr="0">
            <a:spAutoFit/>
          </a:bodyPr>
          <a:lstStyle/>
          <a:p>
            <a:r>
              <a:rPr lang="en-IN" b="1" dirty="0"/>
              <a:t>Frontend</a:t>
            </a:r>
          </a:p>
          <a:p>
            <a:pPr marL="285750" lvl="3" indent="-285750">
              <a:buFont typeface="Arial" panose="020B0604020202020204" pitchFamily="34" charset="0"/>
              <a:buChar char="•"/>
            </a:pPr>
            <a:r>
              <a:rPr lang="en-IN" dirty="0"/>
              <a:t>React.js</a:t>
            </a:r>
          </a:p>
          <a:p>
            <a:pPr marL="285750" lvl="3" indent="-285750">
              <a:buFont typeface="Arial" panose="020B0604020202020204" pitchFamily="34" charset="0"/>
              <a:buChar char="•"/>
            </a:pPr>
            <a:r>
              <a:rPr lang="en-IN" dirty="0"/>
              <a:t>Vite</a:t>
            </a:r>
          </a:p>
          <a:p>
            <a:pPr marL="285750" lvl="3" indent="-285750">
              <a:buFont typeface="Arial" panose="020B0604020202020204" pitchFamily="34" charset="0"/>
              <a:buChar char="•"/>
            </a:pPr>
            <a:r>
              <a:rPr lang="en-IN" dirty="0"/>
              <a:t>CSS</a:t>
            </a:r>
          </a:p>
          <a:p>
            <a:pPr marL="285750" indent="-285750">
              <a:buFont typeface="Arial" panose="020B0604020202020204" pitchFamily="34" charset="0"/>
              <a:buChar char="•"/>
            </a:pPr>
            <a:endParaRPr lang="en-IN" dirty="0"/>
          </a:p>
          <a:p>
            <a:r>
              <a:rPr lang="en-IN" b="1" dirty="0"/>
              <a:t>Backend</a:t>
            </a:r>
          </a:p>
          <a:p>
            <a:pPr marL="285750" indent="-285750">
              <a:buFont typeface="Arial" panose="020B0604020202020204" pitchFamily="34" charset="0"/>
              <a:buChar char="•"/>
            </a:pPr>
            <a:r>
              <a:rPr lang="en-IN" dirty="0" err="1"/>
              <a:t>FastAPI</a:t>
            </a:r>
            <a:endParaRPr lang="en-IN" dirty="0"/>
          </a:p>
          <a:p>
            <a:pPr marL="285750" indent="-285750">
              <a:buFont typeface="Arial" panose="020B0604020202020204" pitchFamily="34" charset="0"/>
              <a:buChar char="•"/>
            </a:pPr>
            <a:r>
              <a:rPr lang="en-IN" dirty="0"/>
              <a:t>Python</a:t>
            </a:r>
          </a:p>
          <a:p>
            <a:pPr marL="285750" indent="-285750">
              <a:buFont typeface="Arial" panose="020B0604020202020204" pitchFamily="34" charset="0"/>
              <a:buChar char="•"/>
            </a:pPr>
            <a:endParaRPr lang="en-IN" dirty="0"/>
          </a:p>
          <a:p>
            <a:r>
              <a:rPr lang="en-IN" b="1" dirty="0"/>
              <a:t>Artificial Intelligence</a:t>
            </a:r>
          </a:p>
          <a:p>
            <a:pPr marL="285750" indent="-285750">
              <a:buFont typeface="Arial" panose="020B0604020202020204" pitchFamily="34" charset="0"/>
              <a:buChar char="•"/>
            </a:pPr>
            <a:r>
              <a:rPr lang="en-IN" dirty="0"/>
              <a:t>IBM watsonx.ai</a:t>
            </a:r>
          </a:p>
          <a:p>
            <a:pPr marL="285750" indent="-285750">
              <a:buFont typeface="Arial" panose="020B0604020202020204" pitchFamily="34" charset="0"/>
              <a:buChar char="•"/>
            </a:pPr>
            <a:r>
              <a:rPr lang="en-IN" dirty="0"/>
              <a:t>IBM Granite 3.3 8B Instruct Model</a:t>
            </a:r>
          </a:p>
          <a:p>
            <a:pPr marL="285750" indent="-285750">
              <a:buFont typeface="Arial" panose="020B0604020202020204" pitchFamily="34" charset="0"/>
              <a:buChar char="•"/>
            </a:pPr>
            <a:endParaRPr lang="en-IN" dirty="0"/>
          </a:p>
          <a:p>
            <a:r>
              <a:rPr lang="en-IN" b="1" dirty="0"/>
              <a:t>PDF Processing</a:t>
            </a:r>
          </a:p>
          <a:p>
            <a:pPr marL="285750" indent="-285750">
              <a:buFont typeface="Arial" panose="020B0604020202020204" pitchFamily="34" charset="0"/>
              <a:buChar char="•"/>
            </a:pPr>
            <a:r>
              <a:rPr lang="en-IN" dirty="0" err="1"/>
              <a:t>PyMuPDF</a:t>
            </a:r>
            <a:r>
              <a:rPr lang="en-IN" dirty="0"/>
              <a:t> (</a:t>
            </a:r>
            <a:r>
              <a:rPr lang="en-IN" dirty="0" err="1"/>
              <a:t>fitz</a:t>
            </a:r>
            <a:r>
              <a:rPr lang="en-IN" dirty="0"/>
              <a:t>)</a:t>
            </a:r>
            <a:br>
              <a:rPr lang="en-IN" dirty="0"/>
            </a:br>
            <a:endParaRPr lang="en-IN" dirty="0"/>
          </a:p>
          <a:p>
            <a:r>
              <a:rPr lang="en-IN" b="1" dirty="0"/>
              <a:t>RAG</a:t>
            </a:r>
          </a:p>
          <a:p>
            <a:pPr marL="285750" indent="-285750">
              <a:buFont typeface="Arial" panose="020B0604020202020204" pitchFamily="34" charset="0"/>
              <a:buChar char="•"/>
            </a:pPr>
            <a:r>
              <a:rPr lang="en-IN" dirty="0"/>
              <a:t>Document Chunking</a:t>
            </a:r>
          </a:p>
          <a:p>
            <a:pPr marL="285750" indent="-285750">
              <a:buFont typeface="Arial" panose="020B0604020202020204" pitchFamily="34" charset="0"/>
              <a:buChar char="•"/>
            </a:pPr>
            <a:r>
              <a:rPr lang="en-IN" dirty="0"/>
              <a:t>Context Retrieval</a:t>
            </a:r>
          </a:p>
          <a:p>
            <a:pPr marL="285750" indent="-285750">
              <a:buFont typeface="Arial" panose="020B0604020202020204" pitchFamily="34" charset="0"/>
              <a:buChar char="•"/>
            </a:pPr>
            <a:r>
              <a:rPr lang="en-IN" dirty="0"/>
              <a:t>Prompt Engineering</a:t>
            </a:r>
          </a:p>
          <a:p>
            <a:pPr marL="285750" indent="-285750">
              <a:buFont typeface="Arial" panose="020B0604020202020204" pitchFamily="34" charset="0"/>
              <a:buChar char="•"/>
            </a:pPr>
            <a:endParaRPr lang="en-IN" dirty="0"/>
          </a:p>
        </p:txBody>
      </p:sp>
      <p:sp>
        <p:nvSpPr>
          <p:cNvPr id="2" name="TextBox 1">
            <a:extLst>
              <a:ext uri="{FF2B5EF4-FFF2-40B4-BE49-F238E27FC236}">
                <a16:creationId xmlns:a16="http://schemas.microsoft.com/office/drawing/2014/main" id="{0EBAB097-7BC3-CC86-0231-8D380D61D9EC}"/>
              </a:ext>
            </a:extLst>
          </p:cNvPr>
          <p:cNvSpPr txBox="1"/>
          <p:nvPr/>
        </p:nvSpPr>
        <p:spPr>
          <a:xfrm>
            <a:off x="6035040" y="1371600"/>
            <a:ext cx="4114800" cy="2462213"/>
          </a:xfrm>
          <a:prstGeom prst="rect">
            <a:avLst/>
          </a:prstGeom>
          <a:noFill/>
        </p:spPr>
        <p:txBody>
          <a:bodyPr wrap="square" rtlCol="0">
            <a:spAutoFit/>
          </a:bodyPr>
          <a:lstStyle/>
          <a:p>
            <a:r>
              <a:rPr lang="en-IN" b="1" dirty="0"/>
              <a:t>Development Tools</a:t>
            </a:r>
          </a:p>
          <a:p>
            <a:pPr marL="285750" indent="-285750">
              <a:buFont typeface="Arial" panose="020B0604020202020204" pitchFamily="34" charset="0"/>
              <a:buChar char="•"/>
            </a:pPr>
            <a:r>
              <a:rPr lang="en-IN" dirty="0"/>
              <a:t>Git</a:t>
            </a:r>
          </a:p>
          <a:p>
            <a:pPr marL="285750" indent="-285750">
              <a:buFont typeface="Arial" panose="020B0604020202020204" pitchFamily="34" charset="0"/>
              <a:buChar char="•"/>
            </a:pPr>
            <a:r>
              <a:rPr lang="en-IN" dirty="0"/>
              <a:t>GitHub</a:t>
            </a:r>
          </a:p>
          <a:p>
            <a:pPr marL="285750" indent="-285750">
              <a:buFont typeface="Arial" panose="020B0604020202020204" pitchFamily="34" charset="0"/>
              <a:buChar char="•"/>
            </a:pPr>
            <a:r>
              <a:rPr lang="en-IN" dirty="0"/>
              <a:t>Visual Studio Code</a:t>
            </a:r>
          </a:p>
          <a:p>
            <a:pPr marL="285750" indent="-285750">
              <a:buFont typeface="Arial" panose="020B0604020202020204" pitchFamily="34" charset="0"/>
              <a:buChar char="•"/>
            </a:pPr>
            <a:endParaRPr lang="en-IN" dirty="0"/>
          </a:p>
          <a:p>
            <a:r>
              <a:rPr lang="en-IN" b="1" dirty="0"/>
              <a:t>IBM Services Used</a:t>
            </a:r>
          </a:p>
          <a:p>
            <a:pPr marL="285750" indent="-285750">
              <a:buFont typeface="Arial" panose="020B0604020202020204" pitchFamily="34" charset="0"/>
              <a:buChar char="•"/>
            </a:pPr>
            <a:r>
              <a:rPr lang="en-IN" dirty="0"/>
              <a:t>IBM watsonx.ai</a:t>
            </a:r>
          </a:p>
          <a:p>
            <a:pPr marL="285750" indent="-285750">
              <a:buFont typeface="Arial" panose="020B0604020202020204" pitchFamily="34" charset="0"/>
              <a:buChar char="•"/>
            </a:pPr>
            <a:r>
              <a:rPr lang="en-IN" dirty="0"/>
              <a:t>IBM Granite Foundation Model</a:t>
            </a:r>
          </a:p>
          <a:p>
            <a:pPr marL="285750" indent="-285750">
              <a:buFont typeface="Arial" panose="020B0604020202020204" pitchFamily="34" charset="0"/>
              <a:buChar char="•"/>
            </a:pPr>
            <a:r>
              <a:rPr lang="en-IN" dirty="0"/>
              <a:t>IBM Cloud Lite</a:t>
            </a:r>
          </a:p>
          <a:p>
            <a:pPr marL="285750" indent="-285750">
              <a:buFont typeface="Arial" panose="020B0604020202020204" pitchFamily="34" charset="0"/>
              <a:buChar char="•"/>
            </a:pPr>
            <a:r>
              <a:rPr lang="en-IN" dirty="0"/>
              <a:t>IBM API Key Authentication</a:t>
            </a:r>
          </a:p>
          <a:p>
            <a:pPr marL="285750" indent="-285750">
              <a:buFont typeface="Arial" panose="020B0604020202020204" pitchFamily="34" charset="0"/>
              <a:buChar char="•"/>
            </a:pP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1" i="0" u="none" strike="noStrike" cap="none">
                <a:solidFill>
                  <a:schemeClr val="dk1"/>
                </a:solidFill>
                <a:latin typeface="Calibri"/>
                <a:ea typeface="Calibri"/>
                <a:cs typeface="Calibri"/>
                <a:sym typeface="Calibri"/>
              </a:rPr>
              <a:t>Architecture blueprint</a:t>
            </a:r>
            <a:endParaRPr sz="2400" b="0" i="0" u="none" strike="noStrike" cap="none">
              <a:solidFill>
                <a:srgbClr val="000000"/>
              </a:solidFill>
              <a:latin typeface="Arial"/>
              <a:ea typeface="Arial"/>
              <a:cs typeface="Arial"/>
              <a:sym typeface="Arial"/>
            </a:endParaRPr>
          </a:p>
        </p:txBody>
      </p:sp>
      <p:pic>
        <p:nvPicPr>
          <p:cNvPr id="5" name="Picture 4">
            <a:extLst>
              <a:ext uri="{FF2B5EF4-FFF2-40B4-BE49-F238E27FC236}">
                <a16:creationId xmlns:a16="http://schemas.microsoft.com/office/drawing/2014/main" id="{12AEADBF-51B3-9327-3A24-42AD2EB996DC}"/>
              </a:ext>
            </a:extLst>
          </p:cNvPr>
          <p:cNvPicPr>
            <a:picLocks noChangeAspect="1"/>
          </p:cNvPicPr>
          <p:nvPr/>
        </p:nvPicPr>
        <p:blipFill>
          <a:blip r:embed="rId3"/>
          <a:stretch>
            <a:fillRect/>
          </a:stretch>
        </p:blipFill>
        <p:spPr>
          <a:xfrm>
            <a:off x="952500" y="771746"/>
            <a:ext cx="10287000" cy="576301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8" name="Google Shape;138;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Role of Agentic AI in the solution </a:t>
            </a:r>
            <a:endParaRPr sz="3200" b="1" i="0" u="none" strike="noStrike" cap="none">
              <a:solidFill>
                <a:srgbClr val="000000"/>
              </a:solidFill>
              <a:latin typeface="Arial"/>
              <a:ea typeface="Arial"/>
              <a:cs typeface="Arial"/>
              <a:sym typeface="Arial"/>
            </a:endParaRPr>
          </a:p>
        </p:txBody>
      </p:sp>
      <p:sp>
        <p:nvSpPr>
          <p:cNvPr id="139" name="Google Shape;139;p9"/>
          <p:cNvSpPr txBox="1"/>
          <p:nvPr/>
        </p:nvSpPr>
        <p:spPr>
          <a:xfrm>
            <a:off x="228600" y="990600"/>
            <a:ext cx="8827008" cy="5940047"/>
          </a:xfrm>
          <a:prstGeom prst="rect">
            <a:avLst/>
          </a:prstGeom>
          <a:noFill/>
          <a:ln>
            <a:noFill/>
          </a:ln>
        </p:spPr>
        <p:txBody>
          <a:bodyPr spcFirstLastPara="1" wrap="square" lIns="91425" tIns="45700" rIns="91425" bIns="45700" anchor="t" anchorCtr="0">
            <a:spAutoFit/>
          </a:bodyPr>
          <a:lstStyle/>
          <a:p>
            <a:pPr marL="342900" indent="-342900" algn="just">
              <a:buFont typeface="Arial" panose="020B0604020202020204" pitchFamily="34" charset="0"/>
              <a:buChar char="•"/>
            </a:pPr>
            <a:r>
              <a:rPr lang="en-IN" sz="2000" dirty="0"/>
              <a:t>EduSimplify AI utilizes an </a:t>
            </a:r>
            <a:r>
              <a:rPr lang="en-IN" sz="2000" b="1" dirty="0"/>
              <a:t>Agentic AI-inspired workflow</a:t>
            </a:r>
            <a:r>
              <a:rPr lang="en-IN" sz="2000" dirty="0"/>
              <a:t> to automate document understanding and intelligent question answering. When a user uploads a PDF, the system automatically extracts the text, preprocesses the content, and divides it into meaningful chunks using a </a:t>
            </a:r>
            <a:r>
              <a:rPr lang="en-IN" sz="2000" b="1" dirty="0"/>
              <a:t>Retrieval-Augmented Generation (RAG)</a:t>
            </a:r>
            <a:r>
              <a:rPr lang="en-IN" sz="2000" dirty="0"/>
              <a:t> approach. This enables the application to retrieve the most relevant information related to the user's query.</a:t>
            </a:r>
          </a:p>
          <a:p>
            <a:pPr marL="342900" indent="-342900" algn="just">
              <a:buFont typeface="Arial" panose="020B0604020202020204" pitchFamily="34" charset="0"/>
              <a:buChar char="•"/>
            </a:pPr>
            <a:r>
              <a:rPr lang="en-IN" sz="2000" dirty="0"/>
              <a:t>The retrieved document context is then sent to the </a:t>
            </a:r>
            <a:r>
              <a:rPr lang="en-IN" sz="2000" b="1" dirty="0"/>
              <a:t>IBM Granite foundation model</a:t>
            </a:r>
            <a:r>
              <a:rPr lang="en-IN" sz="2000" dirty="0"/>
              <a:t> hosted on </a:t>
            </a:r>
            <a:r>
              <a:rPr lang="en-IN" sz="2000" b="1" dirty="0"/>
              <a:t>IBM watsonx.ai</a:t>
            </a:r>
            <a:r>
              <a:rPr lang="en-IN" sz="2000" dirty="0"/>
              <a:t>, where the model performs natural language understanding, reasoning, and response generation. By generating answers only from the uploaded document, the system minimizes hallucinations and provides accurate, context-aware responses.</a:t>
            </a:r>
          </a:p>
          <a:p>
            <a:pPr marL="342900" indent="-342900" algn="just">
              <a:buFont typeface="Arial" panose="020B0604020202020204" pitchFamily="34" charset="0"/>
              <a:buChar char="•"/>
            </a:pPr>
            <a:r>
              <a:rPr lang="en-IN" sz="2000" dirty="0"/>
              <a:t>This intelligent workflow transforms static academic PDFs into an interactive learning assistant, allowing students to ask questions in natural language and receive instant, reliable answers. EduSimplify AI improves learning efficiency, reduces the time spent searching through lengthy documents, and demonstrates how IBM Granite and RAG can be effectively applied to build smart, AI-powered educational solutions.</a:t>
            </a:r>
          </a:p>
          <a:p>
            <a:pPr algn="just"/>
            <a:endParaRPr lang="en-IN"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9"/>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i="0" u="none" strike="noStrike" cap="none">
                <a:solidFill>
                  <a:srgbClr val="000000"/>
                </a:solidFill>
                <a:latin typeface="Arial"/>
                <a:ea typeface="Arial"/>
                <a:cs typeface="Arial"/>
                <a:sym typeface="Arial"/>
              </a:rPr>
              <a:t>Token Usage </a:t>
            </a:r>
            <a:endParaRPr sz="2400" b="1" i="0" u="none" strike="noStrike" cap="none">
              <a:solidFill>
                <a:srgbClr val="000000"/>
              </a:solidFill>
              <a:latin typeface="Arial"/>
              <a:ea typeface="Arial"/>
              <a:cs typeface="Arial"/>
              <a:sym typeface="Arial"/>
            </a:endParaRPr>
          </a:p>
        </p:txBody>
      </p:sp>
      <p:sp>
        <p:nvSpPr>
          <p:cNvPr id="145" name="Google Shape;145;p39"/>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6" name="Google Shape;146;p39"/>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7" name="Google Shape;147;p39"/>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8" name="Google Shape;148;p39"/>
          <p:cNvSpPr txBox="1"/>
          <p:nvPr/>
        </p:nvSpPr>
        <p:spPr>
          <a:xfrm>
            <a:off x="897392" y="1042133"/>
            <a:ext cx="437117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dirty="0"/>
              <a:t>8231</a:t>
            </a:r>
            <a:r>
              <a:rPr lang="en-US" sz="1400" b="0" i="0" u="none" strike="noStrike" cap="none" dirty="0">
                <a:solidFill>
                  <a:srgbClr val="000000"/>
                </a:solidFill>
                <a:latin typeface="Arial"/>
                <a:ea typeface="Arial"/>
                <a:cs typeface="Arial"/>
                <a:sym typeface="Arial"/>
              </a:rPr>
              <a:t> token are used</a:t>
            </a:r>
            <a:endParaRPr dirty="0"/>
          </a:p>
        </p:txBody>
      </p:sp>
      <p:sp>
        <p:nvSpPr>
          <p:cNvPr id="151" name="Google Shape;151;p39"/>
          <p:cNvSpPr txBox="1"/>
          <p:nvPr/>
        </p:nvSpPr>
        <p:spPr>
          <a:xfrm>
            <a:off x="1278639" y="1718067"/>
            <a:ext cx="274319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sng" strike="noStrike" cap="none">
                <a:solidFill>
                  <a:srgbClr val="000000"/>
                </a:solidFill>
                <a:latin typeface="Arial"/>
                <a:ea typeface="Arial"/>
                <a:cs typeface="Arial"/>
                <a:sym typeface="Arial"/>
              </a:rPr>
              <a:t>Before Prompt</a:t>
            </a:r>
            <a:endParaRPr/>
          </a:p>
        </p:txBody>
      </p:sp>
      <p:sp>
        <p:nvSpPr>
          <p:cNvPr id="152" name="Google Shape;152;p39"/>
          <p:cNvSpPr txBox="1"/>
          <p:nvPr/>
        </p:nvSpPr>
        <p:spPr>
          <a:xfrm>
            <a:off x="7106828" y="1722919"/>
            <a:ext cx="274319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sng" strike="noStrike" cap="none">
                <a:solidFill>
                  <a:srgbClr val="000000"/>
                </a:solidFill>
                <a:latin typeface="Arial"/>
                <a:ea typeface="Arial"/>
                <a:cs typeface="Arial"/>
                <a:sym typeface="Arial"/>
              </a:rPr>
              <a:t>After the Prompt</a:t>
            </a:r>
            <a:endParaRPr/>
          </a:p>
        </p:txBody>
      </p:sp>
      <p:pic>
        <p:nvPicPr>
          <p:cNvPr id="5" name="Picture 4">
            <a:extLst>
              <a:ext uri="{FF2B5EF4-FFF2-40B4-BE49-F238E27FC236}">
                <a16:creationId xmlns:a16="http://schemas.microsoft.com/office/drawing/2014/main" id="{02EE001D-2377-C6D9-C301-1297B75344C3}"/>
              </a:ext>
            </a:extLst>
          </p:cNvPr>
          <p:cNvPicPr>
            <a:picLocks noChangeAspect="1"/>
          </p:cNvPicPr>
          <p:nvPr/>
        </p:nvPicPr>
        <p:blipFill>
          <a:blip r:embed="rId3"/>
          <a:stretch>
            <a:fillRect/>
          </a:stretch>
        </p:blipFill>
        <p:spPr>
          <a:xfrm>
            <a:off x="184729" y="2430861"/>
            <a:ext cx="5556045" cy="3746819"/>
          </a:xfrm>
          <a:prstGeom prst="rect">
            <a:avLst/>
          </a:prstGeom>
        </p:spPr>
      </p:pic>
      <p:pic>
        <p:nvPicPr>
          <p:cNvPr id="7" name="Picture 6">
            <a:extLst>
              <a:ext uri="{FF2B5EF4-FFF2-40B4-BE49-F238E27FC236}">
                <a16:creationId xmlns:a16="http://schemas.microsoft.com/office/drawing/2014/main" id="{4B0D023B-2430-34B5-9D07-4B39443D193A}"/>
              </a:ext>
            </a:extLst>
          </p:cNvPr>
          <p:cNvPicPr>
            <a:picLocks noChangeAspect="1"/>
          </p:cNvPicPr>
          <p:nvPr/>
        </p:nvPicPr>
        <p:blipFill>
          <a:blip r:embed="rId4"/>
          <a:stretch>
            <a:fillRect/>
          </a:stretch>
        </p:blipFill>
        <p:spPr>
          <a:xfrm>
            <a:off x="6248400" y="2430861"/>
            <a:ext cx="5556045" cy="374681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777240" y="484632"/>
            <a:ext cx="712317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Novelty and Uniqueness</a:t>
            </a:r>
            <a:endParaRPr sz="2800" b="1" i="0" u="none" strike="noStrike" cap="none" dirty="0">
              <a:solidFill>
                <a:srgbClr val="000000"/>
              </a:solidFill>
              <a:latin typeface="Arial"/>
              <a:ea typeface="Arial"/>
              <a:cs typeface="Arial"/>
              <a:sym typeface="Arial"/>
            </a:endParaRPr>
          </a:p>
        </p:txBody>
      </p:sp>
      <p:sp>
        <p:nvSpPr>
          <p:cNvPr id="158" name="Google Shape;158;p40"/>
          <p:cNvSpPr txBox="1"/>
          <p:nvPr/>
        </p:nvSpPr>
        <p:spPr>
          <a:xfrm>
            <a:off x="777240" y="1207008"/>
            <a:ext cx="11301984" cy="4401164"/>
          </a:xfrm>
          <a:prstGeom prst="rect">
            <a:avLst/>
          </a:prstGeom>
          <a:noFill/>
          <a:ln>
            <a:noFill/>
          </a:ln>
        </p:spPr>
        <p:txBody>
          <a:bodyPr spcFirstLastPara="1" wrap="square" lIns="91425" tIns="45700" rIns="91425" bIns="45700" anchor="t" anchorCtr="0">
            <a:spAutoFit/>
          </a:bodyPr>
          <a:lstStyle/>
          <a:p>
            <a:pPr marL="285750" lvl="0" indent="-285750">
              <a:buFont typeface="Arial" panose="020B0604020202020204" pitchFamily="34" charset="0"/>
              <a:buChar char="•"/>
            </a:pPr>
            <a:r>
              <a:rPr lang="en-IN" sz="2000" b="1" dirty="0"/>
              <a:t>AI-Powered Document Understanding</a:t>
            </a:r>
            <a:r>
              <a:rPr lang="en-IN" sz="2000" dirty="0"/>
              <a:t> – Enables users to ask questions in natural language instead of relying on traditional keyword-based PDF searches. </a:t>
            </a:r>
          </a:p>
          <a:p>
            <a:pPr marL="285750" lvl="0" indent="-285750">
              <a:buFont typeface="Arial" panose="020B0604020202020204" pitchFamily="34" charset="0"/>
              <a:buChar char="•"/>
            </a:pPr>
            <a:r>
              <a:rPr lang="en-IN" sz="2000" b="1" dirty="0"/>
              <a:t>RAG-Based Context Retrieval</a:t>
            </a:r>
            <a:r>
              <a:rPr lang="en-IN" sz="2000" dirty="0"/>
              <a:t> – Retrieves only the most relevant document sections before generating responses, improving answer accuracy and reducing hallucinations. </a:t>
            </a:r>
          </a:p>
          <a:p>
            <a:pPr marL="285750" lvl="0" indent="-285750">
              <a:buFont typeface="Arial" panose="020B0604020202020204" pitchFamily="34" charset="0"/>
              <a:buChar char="•"/>
            </a:pPr>
            <a:r>
              <a:rPr lang="en-IN" sz="2000" b="1" dirty="0"/>
              <a:t>IBM Granite Integration</a:t>
            </a:r>
            <a:r>
              <a:rPr lang="en-IN" sz="2000" dirty="0"/>
              <a:t> – Utilizes IBM Granite models through IBM watsonx.ai for advanced reasoning, summarization, and context-aware response generation. </a:t>
            </a:r>
          </a:p>
          <a:p>
            <a:pPr marL="285750" lvl="0" indent="-285750">
              <a:buFont typeface="Arial" panose="020B0604020202020204" pitchFamily="34" charset="0"/>
              <a:buChar char="•"/>
            </a:pPr>
            <a:r>
              <a:rPr lang="en-IN" sz="2000" b="1" dirty="0"/>
              <a:t>Interactive Learning Experience</a:t>
            </a:r>
            <a:r>
              <a:rPr lang="en-IN" sz="2000" dirty="0"/>
              <a:t> – Converts static PDFs into an AI tutor that provides instant explanations, concept clarification, and academic support. </a:t>
            </a:r>
          </a:p>
          <a:p>
            <a:pPr marL="285750" lvl="0" indent="-285750">
              <a:buFont typeface="Arial" panose="020B0604020202020204" pitchFamily="34" charset="0"/>
              <a:buChar char="•"/>
            </a:pPr>
            <a:r>
              <a:rPr lang="en-IN" sz="2000" b="1" dirty="0"/>
              <a:t>Modern Full-Stack Architecture</a:t>
            </a:r>
            <a:r>
              <a:rPr lang="en-IN" sz="2000" dirty="0"/>
              <a:t> – Built using React, </a:t>
            </a:r>
            <a:r>
              <a:rPr lang="en-IN" sz="2000" dirty="0" err="1"/>
              <a:t>FastAPI</a:t>
            </a:r>
            <a:r>
              <a:rPr lang="en-IN" sz="2000" dirty="0"/>
              <a:t>, Python, and IBM watsonx.ai, ensuring scalability, modularity, and seamless user interaction. </a:t>
            </a:r>
          </a:p>
          <a:p>
            <a:pPr marL="285750" lvl="0" indent="-285750">
              <a:buFont typeface="Arial" panose="020B0604020202020204" pitchFamily="34" charset="0"/>
              <a:buChar char="•"/>
            </a:pPr>
            <a:r>
              <a:rPr lang="en-IN" sz="2000" b="1" dirty="0"/>
              <a:t>Improved Study Efficiency</a:t>
            </a:r>
            <a:r>
              <a:rPr lang="en-IN" sz="2000" dirty="0"/>
              <a:t> – Helps students quickly locate important information, saving time and enhancing productivity during exam preparation and revision. </a:t>
            </a:r>
          </a:p>
          <a:p>
            <a:pPr marL="285750" lvl="0" indent="-285750">
              <a:buFont typeface="Arial" panose="020B0604020202020204" pitchFamily="34" charset="0"/>
              <a:buChar char="•"/>
            </a:pPr>
            <a:r>
              <a:rPr lang="en-IN" sz="2000" b="1" dirty="0"/>
              <a:t>User-Friendly Interface</a:t>
            </a:r>
            <a:r>
              <a:rPr lang="en-IN" sz="2000" dirty="0"/>
              <a:t> – Provides a simple, responsive, and intuitive platform for uploading PDFs and interacting with AI-powered document analysis.</a:t>
            </a:r>
            <a:endParaRPr sz="1600" b="0" i="0" u="none" strike="noStrike" cap="none" dirty="0">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1"/>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Git Hub Link</a:t>
            </a:r>
            <a:endParaRPr sz="2400" b="1" i="0" u="none" strike="noStrike" cap="none">
              <a:solidFill>
                <a:srgbClr val="000000"/>
              </a:solidFill>
              <a:latin typeface="Arial"/>
              <a:ea typeface="Arial"/>
              <a:cs typeface="Arial"/>
              <a:sym typeface="Arial"/>
            </a:endParaRPr>
          </a:p>
        </p:txBody>
      </p:sp>
      <p:sp>
        <p:nvSpPr>
          <p:cNvPr id="164" name="Google Shape;164;p41"/>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IN" sz="1850" dirty="0">
                <a:latin typeface="Times New Roman"/>
                <a:ea typeface="Times New Roman"/>
                <a:cs typeface="Times New Roman"/>
                <a:sym typeface="Times New Roman"/>
                <a:hlinkClick r:id="rId3"/>
              </a:rPr>
              <a:t>https://github.com/abhi021410-ship-it/EduSimplify_AI.git</a:t>
            </a:r>
            <a:endParaRPr sz="1850" b="0" i="0" u="none" strike="noStrike" cap="none" dirty="0">
              <a:solidFill>
                <a:srgbClr val="000000"/>
              </a:solidFill>
              <a:latin typeface="Times New Roman"/>
              <a:ea typeface="Times New Roman"/>
              <a:cs typeface="Times New Roman"/>
              <a:sym typeface="Times New Roman"/>
            </a:endParaRPr>
          </a:p>
        </p:txBody>
      </p:sp>
      <p:sp>
        <p:nvSpPr>
          <p:cNvPr id="165" name="Google Shape;165;p41"/>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6" name="Google Shape;166;p41"/>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7" name="Google Shape;167;p41"/>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i="0" u="none" strike="noStrike" cap="none" dirty="0">
                <a:solidFill>
                  <a:srgbClr val="000000"/>
                </a:solidFill>
                <a:latin typeface="Arial"/>
                <a:ea typeface="Arial"/>
                <a:cs typeface="Arial"/>
                <a:sym typeface="Arial"/>
              </a:rPr>
              <a:t>Future Scope </a:t>
            </a:r>
            <a:endParaRPr sz="2800" b="1" i="0" u="none" strike="noStrike" cap="none" dirty="0">
              <a:solidFill>
                <a:srgbClr val="000000"/>
              </a:solidFill>
              <a:latin typeface="Arial"/>
              <a:ea typeface="Arial"/>
              <a:cs typeface="Arial"/>
              <a:sym typeface="Arial"/>
            </a:endParaRPr>
          </a:p>
        </p:txBody>
      </p:sp>
      <p:sp>
        <p:nvSpPr>
          <p:cNvPr id="173" name="Google Shape;173;p42"/>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IN" sz="2000" b="1" dirty="0"/>
              <a:t>1. Multiple PDF Support</a:t>
            </a:r>
          </a:p>
          <a:p>
            <a:r>
              <a:rPr lang="en-IN" sz="2000" dirty="0"/>
              <a:t>Enable users to upload and interact with multiple PDF documents simultaneously, allowing cross-document search and comparison for enhanced learning.</a:t>
            </a:r>
          </a:p>
          <a:p>
            <a:r>
              <a:rPr lang="en-IN" sz="2000" b="1" dirty="0"/>
              <a:t>2. Vector Database Integration</a:t>
            </a:r>
          </a:p>
          <a:p>
            <a:r>
              <a:rPr lang="en-IN" sz="2000" dirty="0"/>
              <a:t>Implement FAISS or </a:t>
            </a:r>
            <a:r>
              <a:rPr lang="en-IN" sz="2000" dirty="0" err="1"/>
              <a:t>ChromaDB</a:t>
            </a:r>
            <a:r>
              <a:rPr lang="en-IN" sz="2000" dirty="0"/>
              <a:t> to improve semantic search, enabling faster and more accurate retrieval from large collections of documents.</a:t>
            </a:r>
          </a:p>
          <a:p>
            <a:r>
              <a:rPr lang="en-IN" sz="2000" b="1" dirty="0"/>
              <a:t>3. AI-Based Study Tools</a:t>
            </a:r>
          </a:p>
          <a:p>
            <a:r>
              <a:rPr lang="en-IN" sz="2000" dirty="0"/>
              <a:t>Extend the application to automatically generate concise summaries, flashcards, quizzes, MCQs, and revision notes from uploaded PDFs.</a:t>
            </a:r>
          </a:p>
          <a:p>
            <a:r>
              <a:rPr lang="en-IN" sz="2000" b="1" dirty="0"/>
              <a:t>4. Voice and Multilingual Support</a:t>
            </a:r>
          </a:p>
          <a:p>
            <a:r>
              <a:rPr lang="en-IN" sz="2000" dirty="0"/>
              <a:t>Integrate speech recognition and multilingual capabilities so users can ask questions using voice commands and interact in different languages.</a:t>
            </a:r>
          </a:p>
          <a:p>
            <a:r>
              <a:rPr lang="en-IN" sz="2000" b="1" dirty="0"/>
              <a:t>5. Cloud Deployment &amp; User Management</a:t>
            </a:r>
          </a:p>
          <a:p>
            <a:r>
              <a:rPr lang="en-IN" sz="2000" dirty="0"/>
              <a:t>Deploy the application on cloud platforms with secure user authentication, chat history, document management, and personalized learning dashboards for a complete AI-powered educational platform.</a:t>
            </a:r>
          </a:p>
        </p:txBody>
      </p:sp>
      <p:sp>
        <p:nvSpPr>
          <p:cNvPr id="174" name="Google Shape;174;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5" name="Google Shape;175;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6" name="Google Shape;176;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43"/>
          <p:cNvSpPr txBox="1"/>
          <p:nvPr/>
        </p:nvSpPr>
        <p:spPr>
          <a:xfrm>
            <a:off x="327949" y="207380"/>
            <a:ext cx="6096000"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Certificates Earned</a:t>
            </a:r>
            <a:r>
              <a:rPr lang="en-US" sz="2800" b="1" dirty="0"/>
              <a:t>:</a:t>
            </a:r>
            <a:endParaRPr sz="2800" dirty="0"/>
          </a:p>
        </p:txBody>
      </p:sp>
      <p:pic>
        <p:nvPicPr>
          <p:cNvPr id="3" name="Picture 2">
            <a:extLst>
              <a:ext uri="{FF2B5EF4-FFF2-40B4-BE49-F238E27FC236}">
                <a16:creationId xmlns:a16="http://schemas.microsoft.com/office/drawing/2014/main" id="{0BF6C3C9-DD9E-9893-3D70-7E3702B14177}"/>
              </a:ext>
            </a:extLst>
          </p:cNvPr>
          <p:cNvPicPr>
            <a:picLocks noChangeAspect="1"/>
          </p:cNvPicPr>
          <p:nvPr/>
        </p:nvPicPr>
        <p:blipFill>
          <a:blip r:embed="rId3"/>
          <a:stretch>
            <a:fillRect/>
          </a:stretch>
        </p:blipFill>
        <p:spPr>
          <a:xfrm>
            <a:off x="1600200" y="990600"/>
            <a:ext cx="6881456" cy="518967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9" name="Google Shape;189;p44"/>
          <p:cNvSpPr txBox="1"/>
          <p:nvPr/>
        </p:nvSpPr>
        <p:spPr>
          <a:xfrm>
            <a:off x="176696" y="226391"/>
            <a:ext cx="6096000"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Certificates Earned:</a:t>
            </a:r>
            <a:r>
              <a:rPr lang="en-US" sz="2800" b="0" i="0" u="none" strike="noStrike" cap="none" dirty="0">
                <a:solidFill>
                  <a:srgbClr val="000000"/>
                </a:solidFill>
                <a:latin typeface="Arial"/>
                <a:ea typeface="Arial"/>
                <a:cs typeface="Arial"/>
                <a:sym typeface="Arial"/>
              </a:rPr>
              <a:t>​</a:t>
            </a:r>
            <a:endParaRPr sz="2800" b="0" i="0" u="none" strike="noStrike" cap="none" dirty="0">
              <a:solidFill>
                <a:srgbClr val="000000"/>
              </a:solidFill>
              <a:latin typeface="Arial"/>
              <a:ea typeface="Arial"/>
              <a:cs typeface="Arial"/>
              <a:sym typeface="Arial"/>
            </a:endParaRPr>
          </a:p>
        </p:txBody>
      </p:sp>
      <p:pic>
        <p:nvPicPr>
          <p:cNvPr id="4" name="Picture 3">
            <a:extLst>
              <a:ext uri="{FF2B5EF4-FFF2-40B4-BE49-F238E27FC236}">
                <a16:creationId xmlns:a16="http://schemas.microsoft.com/office/drawing/2014/main" id="{D2BEC6DE-DC50-C1CE-F584-C1A3F297F868}"/>
              </a:ext>
            </a:extLst>
          </p:cNvPr>
          <p:cNvPicPr>
            <a:picLocks noChangeAspect="1"/>
          </p:cNvPicPr>
          <p:nvPr/>
        </p:nvPicPr>
        <p:blipFill>
          <a:blip r:embed="rId3"/>
          <a:stretch>
            <a:fillRect/>
          </a:stretch>
        </p:blipFill>
        <p:spPr>
          <a:xfrm>
            <a:off x="1621230" y="1231151"/>
            <a:ext cx="8626588" cy="53116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20"/>
          <p:cNvPicPr preferRelativeResize="0"/>
          <p:nvPr/>
        </p:nvPicPr>
        <p:blipFill rotWithShape="1">
          <a:blip r:embed="rId3">
            <a:alphaModFix/>
          </a:blip>
          <a:srcRect b="28469"/>
          <a:stretch>
            <a:fillRect/>
          </a:stretch>
        </p:blipFill>
        <p:spPr>
          <a:xfrm>
            <a:off x="0" y="2190302"/>
            <a:ext cx="12192000" cy="1772098"/>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956</Words>
  <Application>Microsoft Office PowerPoint</Application>
  <PresentationFormat>Widescreen</PresentationFormat>
  <Paragraphs>105</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lastModifiedBy>doma akshaya</cp:lastModifiedBy>
  <cp:revision>1</cp:revision>
  <dcterms:created xsi:type="dcterms:W3CDTF">2025-07-08T05:06:56Z</dcterms:created>
  <dcterms:modified xsi:type="dcterms:W3CDTF">2026-07-15T10:54:59Z</dcterms:modified>
</cp:coreProperties>
</file>